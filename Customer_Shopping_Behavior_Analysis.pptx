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F"/>
                </a:solidFill>
                <a:latin typeface="Arial"/>
              </a:rPr>
              <a:t>Revenue by Gender ($)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1A2B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B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Male</c:v>
                  </c:pt>
                  <c:pt idx="1">
                    <c:v>Female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F"/>
                </a:solidFill>
                <a:latin typeface="Arial"/>
              </a:rPr>
              <a:t>Revenue by Age Group ($)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Young Adult</c:v>
                  </c:pt>
                  <c:pt idx="1">
                    <c:v>Middle-aged</c:v>
                  </c:pt>
                  <c:pt idx="2">
                    <c:v>Adult</c:v>
                  </c:pt>
                  <c:pt idx="3">
                    <c:v>Senior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F"/>
                </a:solidFill>
                <a:latin typeface="Arial"/>
              </a:rPr>
              <a:t>Subscription Split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A2B5F"/>
              </a:solidFill>
              <a:effectLst/>
            </c:spPr>
          </c:dPt>
          <c:dPt>
            <c:idx val="1"/>
            <c:bubble3D val="0"/>
            <c:spPr>
              <a:solidFill>
                <a:srgbClr val="0D948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Non-Subscribers</c:v>
                </c:pt>
                <c:pt idx="1">
                  <c:v>Subscribers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73</c:v>
                </c:pt>
                <c:pt idx="1">
                  <c:v>27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A2B5F"/>
                </a:solidFill>
                <a:latin typeface="Arial"/>
              </a:rPr>
              <a:t>Customer Segments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1A2B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A2B5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59E0B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Loyal</c:v>
                  </c:pt>
                  <c:pt idx="1">
                    <c:v>Returning</c:v>
                  </c:pt>
                  <c:pt idx="2">
                    <c:v>New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2B5F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2B5F"/>
                </a:solidFill>
                <a:latin typeface="Arial"/>
              </a:rPr>
              <a:t>Discount-Heavy Products (%)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%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Hat</c:v>
                  </c:pt>
                  <c:pt idx="1">
                    <c:v>Sneakers</c:v>
                  </c:pt>
                  <c:pt idx="2">
                    <c:v>Coat</c:v>
                  </c:pt>
                  <c:pt idx="3">
                    <c:v>Sweater</c:v>
                  </c:pt>
                  <c:pt idx="4">
                    <c:v>Pants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49.7</c:v>
                </c:pt>
                <c:pt idx="2">
                  <c:v>49.1</c:v>
                </c:pt>
                <c:pt idx="3">
                  <c:v>48.2</c:v>
                </c:pt>
                <c:pt idx="4">
                  <c:v>47.4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Behaviour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project | Python · MySQL · Power BI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65760" y="2651760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283464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8529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283464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14600" y="28529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51460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283464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663440" y="28529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812280" y="2834640"/>
            <a:ext cx="1920240" cy="914400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285292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812280" y="3273552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Sachin Shinde | B.E. AI &amp; Data Science | ACPCE Mumbai | May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1920240" cy="5029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Data Source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customer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 · CSV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194560" y="2606040"/>
            <a:ext cx="25603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05840"/>
            <a:ext cx="1920240" cy="5029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Python Cleaning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560320" y="16002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EDA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imputation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606040"/>
            <a:ext cx="25603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05840"/>
            <a:ext cx="1920240" cy="5029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MySQL Analysis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16002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SQL queries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functions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&amp; subqueries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83680" y="2606040"/>
            <a:ext cx="256032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005840"/>
            <a:ext cx="19202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005840"/>
            <a:ext cx="1920240" cy="50292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0584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Power BI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949440" y="1600200"/>
            <a:ext cx="173736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slicers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274320" y="4407408"/>
            <a:ext cx="8595360" cy="54864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4434840"/>
            <a:ext cx="83210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Uncover customer spending patterns, segment behaviour, and deliver actionable business recommendations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Cleaning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0584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058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Dataset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6002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874520" y="16002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 transactions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10312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210312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features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26060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Data: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74520" y="26060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nulls in Review Rating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87452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Location, Subscription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6118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Info: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874520" y="361188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Category, Amount, Season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11480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74520" y="411480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Discount, Frequency, Rating, Shipping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80560" y="100584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480560" y="1005840"/>
            <a:ext cx="4389120" cy="4572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1005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🧹  Cleaning Steps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15819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55448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CSV with pandas — ran df.info() &amp; df.describe()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0574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02996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Imputed 37 missing Review Ratings via category-wise median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17720" y="25328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92040" y="2505456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Renamed all columns to snake_case for consistency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617720" y="30083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92040" y="298094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age_group by binning ages into 4 groups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617720" y="348386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345643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purchase_frequency_days derived feature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17720" y="395935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92040" y="393192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&amp; dropped redundant promo_code_used column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617720" y="443484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4407408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clean DataFrame to MySQL via SQLAlchemy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Business Analysis — 10 Queries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6052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1325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Male: $157,890  |  Female: $75,191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755648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755648"/>
            <a:ext cx="502920" cy="7132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75564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8013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Discount Users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21214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customers spent above avg with discounts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55117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551176"/>
            <a:ext cx="502920" cy="7132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255117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22960" y="25968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29169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3.86 · Sandals 3.84 · Boots 3.82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346704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346704"/>
            <a:ext cx="502920" cy="7132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334670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2960" y="3392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Comparison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22960" y="37124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Standard: $58.46  |  Express: $60.48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142232"/>
            <a:ext cx="416052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142232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414223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41879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Non-Subscribers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22960" y="45079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non-subscribed — huge upsell opportunity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960120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960120"/>
            <a:ext cx="502920" cy="7132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960120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257800" y="100584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Discount-Dependent Products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257800" y="132588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50% · Sneakers 49.7% · Coat 49.1%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09160" y="1755648"/>
            <a:ext cx="416052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1755648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1755648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257800" y="180136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 (CTE)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257800" y="212140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Loyal: 3,116 | Returning: 701 | New: 83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09160" y="2551176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09160" y="2551176"/>
            <a:ext cx="502920" cy="7132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2551176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257800" y="259689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per Category (Window Fn)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257800" y="29169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ROW_NUMBER() — Jewelry, Blouse, Sandals lead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09160" y="3346704"/>
            <a:ext cx="4160520" cy="713232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09160" y="3346704"/>
            <a:ext cx="502920" cy="7132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709160" y="3346704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257800" y="339242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Subscription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257800" y="37124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repeat buyers NOT subscribed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09160" y="4142232"/>
            <a:ext cx="41605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09160" y="4142232"/>
            <a:ext cx="502920" cy="7132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709160" y="4142232"/>
            <a:ext cx="5029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5257800" y="418795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5257800" y="45079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at $62,143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Charts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572000" y="914400"/>
          <a:ext cx="4297680" cy="2103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Chart 2" descr=""/>
          <p:cNvGraphicFramePr/>
          <p:nvPr/>
        </p:nvGraphicFramePr>
        <p:xfrm>
          <a:off x="274320" y="3154680"/>
          <a:ext cx="274320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7" name="Chart 3" descr=""/>
          <p:cNvGraphicFramePr/>
          <p:nvPr/>
        </p:nvGraphicFramePr>
        <p:xfrm>
          <a:off x="3291840" y="3154680"/>
          <a:ext cx="26517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graphicFrame>
        <p:nvGraphicFramePr>
          <p:cNvPr id="8" name="Chart 4" descr=""/>
          <p:cNvGraphicFramePr/>
          <p:nvPr/>
        </p:nvGraphicFramePr>
        <p:xfrm>
          <a:off x="6080760" y="3154680"/>
          <a:ext cx="278892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196596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93268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2984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914400"/>
            <a:ext cx="196596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0592" y="93268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2450592" y="12984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914400"/>
            <a:ext cx="196596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93268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26864" y="12984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914400"/>
            <a:ext cx="1965960" cy="685800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03136" y="93268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$233K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803136" y="129844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00" dirty="0"/>
          </a:p>
        </p:txBody>
      </p:sp>
      <p:pic>
        <p:nvPicPr>
          <p:cNvPr id="16" name="Image 0" descr="/home/claude/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719072"/>
            <a:ext cx="8595360" cy="3108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274320" y="486460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visuals  ·  4 dynamic slicers: Subscription Status, Gender, Category, Shipping Type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658368" cy="11704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658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87552" y="10515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Boost Subscription Conversion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87552" y="13807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non-subscribers. Target 2,518 repeat buyers with exclusive benefits campaign — highest ROI opportunity.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225856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258568"/>
            <a:ext cx="65836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58568"/>
            <a:ext cx="658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💎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87552" y="2350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Loyal Customers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87552" y="26791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 loyal customers need retention incentives. Introduce tiered loyalty program to boost lifetime value.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3557016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3557016"/>
            <a:ext cx="658368" cy="11704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557016"/>
            <a:ext cx="658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🏷️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87552" y="3648456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Discount Policy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87552" y="3977640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 (50%), Sneakers (49.7%), Coat (49.1%) over-rely on discounts. Review margin impact before next campaign.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960120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960120"/>
            <a:ext cx="658368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960120"/>
            <a:ext cx="658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22392" y="1051560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Young Adults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22392" y="1380744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= $62,143 — top revenue segment. Prioritize in seasonal marketing and new product launches.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09160" y="2258568"/>
            <a:ext cx="416052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258568"/>
            <a:ext cx="658368" cy="1170432"/>
          </a:xfrm>
          <a:prstGeom prst="rect">
            <a:avLst/>
          </a:prstGeom>
          <a:solidFill>
            <a:srgbClr val="1A2B5F"/>
          </a:solidFill>
          <a:ln w="12700">
            <a:solidFill>
              <a:srgbClr val="1A2B5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2258568"/>
            <a:ext cx="658368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22392" y="2350008"/>
            <a:ext cx="3337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Top-Rated Products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22392" y="2679192"/>
            <a:ext cx="33375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(3.86), Sandals (3.84), Boots (3.82) — feature in email, homepage, and social campaigns.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B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&amp; 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411480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51560"/>
            <a:ext cx="841248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078992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pandas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108960" y="1078992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cleaning, EDA, feature engineering, DB connection via SQLAlchemy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709928"/>
            <a:ext cx="841248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37360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108960" y="1737360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queries — CTE, window functions (ROW_NUMBER), subqueries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368296"/>
            <a:ext cx="841248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395728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108960" y="2395728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— 6 visuals, 4 dynamic slicers, 3 KPI cards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026664"/>
            <a:ext cx="841248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054096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 Notebook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108960" y="3054096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EDA exploration and analysis documentation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3685032"/>
            <a:ext cx="8412480" cy="566928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712464"/>
            <a:ext cx="2560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108960" y="3712464"/>
            <a:ext cx="5577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control, project portfolio — github.com/Sachin5601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github.com/Sachin5601  ·  eng.sachinshinde@gmail.com  ·  linkedin.com/in/sachin5601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Behaviour Analysis</dc:title>
  <dc:subject>PptxGenJS Presentation</dc:subject>
  <dc:creator>Sachin Shinde</dc:creator>
  <cp:lastModifiedBy>Sachin Shinde</cp:lastModifiedBy>
  <cp:revision>1</cp:revision>
  <dcterms:created xsi:type="dcterms:W3CDTF">2026-05-03T17:25:12Z</dcterms:created>
  <dcterms:modified xsi:type="dcterms:W3CDTF">2026-05-03T17:25:12Z</dcterms:modified>
</cp:coreProperties>
</file>